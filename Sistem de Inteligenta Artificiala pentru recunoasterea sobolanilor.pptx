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B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51" autoAdjust="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45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51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614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69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64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8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6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44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82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78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7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reddeadredemption/comments/eenoie/i_cant_find_any_rats/" TargetMode="External"/><Relationship Id="rId2" Type="http://schemas.openxmlformats.org/officeDocument/2006/relationships/hyperlink" Target="https://www.quora.com/How-do-you-find-a-rat-in-your-house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en.wikipedia.org/wiki/Black_Death" TargetMode="External"/><Relationship Id="rId5" Type="http://schemas.openxmlformats.org/officeDocument/2006/relationships/hyperlink" Target="https://www.bbc.com/news/articles/c4gvk397j80o" TargetMode="External"/><Relationship Id="rId4" Type="http://schemas.openxmlformats.org/officeDocument/2006/relationships/hyperlink" Target="https://www.sciencedirect.com/science/article/pii/000399697490173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colorful dots in a swirl&#10;&#10;AI-generated content may be incorrect.">
            <a:extLst>
              <a:ext uri="{FF2B5EF4-FFF2-40B4-BE49-F238E27FC236}">
                <a16:creationId xmlns:a16="http://schemas.microsoft.com/office/drawing/2014/main" id="{F719DDB2-0340-4531-D02E-4C08F41B54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2579" b="12421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38AA84-A97E-7796-BD57-1A021D3FF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dirty="0" err="1">
                <a:solidFill>
                  <a:srgbClr val="FFFFFF"/>
                </a:solidFill>
              </a:rPr>
              <a:t>Sistem</a:t>
            </a:r>
            <a:r>
              <a:rPr lang="en-US" sz="4200" dirty="0">
                <a:solidFill>
                  <a:srgbClr val="FFFFFF"/>
                </a:solidFill>
              </a:rPr>
              <a:t> de </a:t>
            </a:r>
            <a:r>
              <a:rPr lang="en-US" sz="4200" dirty="0" err="1">
                <a:solidFill>
                  <a:srgbClr val="FFFFFF"/>
                </a:solidFill>
              </a:rPr>
              <a:t>Inteligenta</a:t>
            </a:r>
            <a:r>
              <a:rPr lang="en-US" sz="4200" dirty="0">
                <a:solidFill>
                  <a:srgbClr val="FFFFFF"/>
                </a:solidFill>
              </a:rPr>
              <a:t> </a:t>
            </a:r>
            <a:r>
              <a:rPr lang="en-US" sz="4200" dirty="0" err="1">
                <a:solidFill>
                  <a:srgbClr val="FFFFFF"/>
                </a:solidFill>
              </a:rPr>
              <a:t>Artificiala</a:t>
            </a:r>
            <a:r>
              <a:rPr lang="en-US" sz="4200" dirty="0">
                <a:solidFill>
                  <a:srgbClr val="FFFFFF"/>
                </a:solidFill>
              </a:rPr>
              <a:t> </a:t>
            </a:r>
            <a:r>
              <a:rPr lang="en-US" sz="4200" dirty="0" err="1">
                <a:solidFill>
                  <a:srgbClr val="FFFFFF"/>
                </a:solidFill>
              </a:rPr>
              <a:t>pentru</a:t>
            </a:r>
            <a:r>
              <a:rPr lang="en-US" sz="4200" dirty="0">
                <a:solidFill>
                  <a:srgbClr val="FFFFFF"/>
                </a:solidFill>
              </a:rPr>
              <a:t> </a:t>
            </a:r>
            <a:r>
              <a:rPr lang="en-US" sz="4200" dirty="0" err="1">
                <a:solidFill>
                  <a:srgbClr val="FFFFFF"/>
                </a:solidFill>
              </a:rPr>
              <a:t>recunoasterea</a:t>
            </a:r>
            <a:r>
              <a:rPr lang="en-US" sz="4200" dirty="0">
                <a:solidFill>
                  <a:srgbClr val="FFFFFF"/>
                </a:solidFill>
              </a:rPr>
              <a:t> </a:t>
            </a:r>
            <a:r>
              <a:rPr lang="en-US" sz="4200" dirty="0" err="1">
                <a:solidFill>
                  <a:srgbClr val="FFFFFF"/>
                </a:solidFill>
              </a:rPr>
              <a:t>sobolanilor</a:t>
            </a:r>
            <a:endParaRPr lang="en-US" sz="42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3FCBE-5778-ECAE-54C4-98958BD66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“…and rats make me crazy. Crazy?...”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A66E93-27A2-5E6D-5857-4FC0F6035F08}"/>
              </a:ext>
            </a:extLst>
          </p:cNvPr>
          <p:cNvSpPr txBox="1"/>
          <p:nvPr/>
        </p:nvSpPr>
        <p:spPr>
          <a:xfrm>
            <a:off x="8444753" y="5495365"/>
            <a:ext cx="46975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Prezentare</a:t>
            </a:r>
            <a:r>
              <a:rPr lang="en-US" sz="2800" dirty="0"/>
              <a:t> de </a:t>
            </a:r>
            <a:r>
              <a:rPr lang="en-US" sz="2800" dirty="0" err="1"/>
              <a:t>catre</a:t>
            </a:r>
            <a:r>
              <a:rPr lang="en-US" sz="2800" dirty="0"/>
              <a:t>:</a:t>
            </a:r>
          </a:p>
          <a:p>
            <a:r>
              <a:rPr lang="en-US" sz="2800" dirty="0"/>
              <a:t>	</a:t>
            </a:r>
            <a:r>
              <a:rPr lang="en-US" sz="3600" dirty="0">
                <a:latin typeface="Brush Script MT" panose="03060802040406070304" pitchFamily="66" charset="0"/>
              </a:rPr>
              <a:t>Blaga</a:t>
            </a:r>
            <a:r>
              <a:rPr lang="en-US" sz="2800" dirty="0">
                <a:latin typeface="Brush Script MT" panose="03060802040406070304" pitchFamily="66" charset="0"/>
              </a:rPr>
              <a:t> </a:t>
            </a:r>
            <a:r>
              <a:rPr lang="en-US" sz="2000" dirty="0">
                <a:latin typeface="Comic Sans MS" panose="030F0702030302020204" pitchFamily="66" charset="0"/>
              </a:rPr>
              <a:t>Filip-Andrei</a:t>
            </a:r>
          </a:p>
        </p:txBody>
      </p:sp>
    </p:spTree>
    <p:extLst>
      <p:ext uri="{BB962C8B-B14F-4D97-AF65-F5344CB8AC3E}">
        <p14:creationId xmlns:p14="http://schemas.microsoft.com/office/powerpoint/2010/main" val="3895447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 descr="A close up of a mouse&#10;&#10;AI-generated content may be incorrect.">
            <a:extLst>
              <a:ext uri="{FF2B5EF4-FFF2-40B4-BE49-F238E27FC236}">
                <a16:creationId xmlns:a16="http://schemas.microsoft.com/office/drawing/2014/main" id="{D24EC366-29A0-434D-2F0E-440924355B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96775" cy="688619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A2E01B-6D30-1392-019F-966DA9B22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Ideea</a:t>
            </a:r>
            <a:r>
              <a:rPr lang="en-US" dirty="0"/>
              <a:t> </a:t>
            </a:r>
            <a:r>
              <a:rPr lang="en-US" dirty="0" err="1"/>
              <a:t>generala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77760F-2C13-933A-19CF-268EFF028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11082528" cy="3767328"/>
          </a:xfrm>
        </p:spPr>
        <p:txBody>
          <a:bodyPr>
            <a:normAutofit/>
          </a:bodyPr>
          <a:lstStyle/>
          <a:p>
            <a:r>
              <a:rPr lang="en-US" sz="2000" dirty="0" err="1"/>
              <a:t>Ideea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foarte</a:t>
            </a:r>
            <a:r>
              <a:rPr lang="en-US" sz="2000" dirty="0"/>
              <a:t> </a:t>
            </a:r>
            <a:r>
              <a:rPr lang="en-US" sz="2000" dirty="0" err="1"/>
              <a:t>simpla</a:t>
            </a:r>
            <a:r>
              <a:rPr lang="en-US" sz="2000" dirty="0"/>
              <a:t>, </a:t>
            </a:r>
            <a:r>
              <a:rPr lang="en-US" sz="2000" dirty="0" err="1"/>
              <a:t>vom</a:t>
            </a:r>
            <a:r>
              <a:rPr lang="en-US" sz="2000" dirty="0"/>
              <a:t> </a:t>
            </a:r>
            <a:r>
              <a:rPr lang="en-US" sz="2000" dirty="0" err="1"/>
              <a:t>antrena</a:t>
            </a:r>
            <a:r>
              <a:rPr lang="en-US" sz="2000" dirty="0"/>
              <a:t> o </a:t>
            </a:r>
            <a:r>
              <a:rPr lang="en-US" sz="2000" dirty="0" err="1"/>
              <a:t>retea</a:t>
            </a:r>
            <a:r>
              <a:rPr lang="en-US" sz="2000" dirty="0"/>
              <a:t> </a:t>
            </a:r>
            <a:r>
              <a:rPr lang="en-US" sz="2000" dirty="0" err="1"/>
              <a:t>neuronala</a:t>
            </a:r>
            <a:r>
              <a:rPr lang="en-US" sz="2000" dirty="0"/>
              <a:t> </a:t>
            </a:r>
            <a:r>
              <a:rPr lang="en-US" sz="2000" dirty="0" err="1"/>
              <a:t>incat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detecteze</a:t>
            </a:r>
            <a:r>
              <a:rPr lang="en-US" sz="2000" dirty="0"/>
              <a:t> </a:t>
            </a:r>
            <a:r>
              <a:rPr lang="en-US" sz="2000" dirty="0" err="1"/>
              <a:t>orice</a:t>
            </a:r>
            <a:r>
              <a:rPr lang="en-US" sz="2000" dirty="0"/>
              <a:t> </a:t>
            </a:r>
            <a:r>
              <a:rPr lang="en-US" sz="2000" dirty="0" err="1"/>
              <a:t>rozatoare</a:t>
            </a:r>
            <a:r>
              <a:rPr lang="en-US" sz="2000" dirty="0"/>
              <a:t> (</a:t>
            </a:r>
            <a:r>
              <a:rPr lang="en-US" sz="2000" dirty="0" err="1"/>
              <a:t>sobo</a:t>
            </a:r>
            <a:r>
              <a:rPr lang="en-US" sz="2000" dirty="0"/>
              <a:t>) </a:t>
            </a:r>
            <a:r>
              <a:rPr lang="en-US" sz="2000" dirty="0" err="1"/>
              <a:t>capturata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imagine</a:t>
            </a:r>
          </a:p>
          <a:p>
            <a:endParaRPr lang="en-US" sz="2000" dirty="0"/>
          </a:p>
          <a:p>
            <a:r>
              <a:rPr lang="en-US" sz="2000" dirty="0" err="1"/>
              <a:t>Acest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de </a:t>
            </a:r>
            <a:r>
              <a:rPr lang="en-US" sz="2000" dirty="0" err="1"/>
              <a:t>inteligenta</a:t>
            </a:r>
            <a:r>
              <a:rPr lang="en-US" sz="2000" dirty="0"/>
              <a:t> </a:t>
            </a:r>
            <a:r>
              <a:rPr lang="en-US" sz="2000" dirty="0" err="1"/>
              <a:t>artificiala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un </a:t>
            </a:r>
            <a:r>
              <a:rPr lang="en-US" sz="2000" dirty="0" err="1">
                <a:latin typeface="Brush Script MT" panose="03060802040406070304" pitchFamily="66" charset="0"/>
              </a:rPr>
              <a:t>sistem</a:t>
            </a:r>
            <a:r>
              <a:rPr lang="en-US" sz="2000" dirty="0">
                <a:latin typeface="Brush Script MT" panose="03060802040406070304" pitchFamily="66" charset="0"/>
              </a:rPr>
              <a:t> de </a:t>
            </a:r>
            <a:r>
              <a:rPr lang="en-US" sz="2000" dirty="0" err="1">
                <a:latin typeface="Brush Script MT" panose="03060802040406070304" pitchFamily="66" charset="0"/>
              </a:rPr>
              <a:t>viziune</a:t>
            </a:r>
            <a:r>
              <a:rPr lang="en-US" sz="2000" dirty="0">
                <a:latin typeface="Brush Script MT" panose="03060802040406070304" pitchFamily="66" charset="0"/>
              </a:rPr>
              <a:t> </a:t>
            </a:r>
            <a:r>
              <a:rPr lang="en-US" sz="2000" dirty="0" err="1">
                <a:latin typeface="Brush Script MT" panose="03060802040406070304" pitchFamily="66" charset="0"/>
              </a:rPr>
              <a:t>computerizată</a:t>
            </a:r>
            <a:r>
              <a:rPr lang="en-US" sz="2000" dirty="0">
                <a:latin typeface="Brush Script MT" panose="03060802040406070304" pitchFamily="66" charset="0"/>
              </a:rPr>
              <a:t> </a:t>
            </a:r>
            <a:r>
              <a:rPr lang="en-US" sz="2000" dirty="0" err="1">
                <a:latin typeface="Brush Script MT" panose="03060802040406070304" pitchFamily="66" charset="0"/>
              </a:rPr>
              <a:t>bazat</a:t>
            </a:r>
            <a:r>
              <a:rPr lang="en-US" sz="2000" dirty="0">
                <a:latin typeface="Brush Script MT" panose="03060802040406070304" pitchFamily="66" charset="0"/>
              </a:rPr>
              <a:t> pe </a:t>
            </a:r>
            <a:r>
              <a:rPr lang="en-US" sz="2000" dirty="0" err="1">
                <a:latin typeface="Brush Script MT" panose="03060802040406070304" pitchFamily="66" charset="0"/>
              </a:rPr>
              <a:t>rețele</a:t>
            </a:r>
            <a:r>
              <a:rPr lang="en-US" sz="2000" dirty="0">
                <a:latin typeface="Brush Script MT" panose="03060802040406070304" pitchFamily="66" charset="0"/>
              </a:rPr>
              <a:t> </a:t>
            </a:r>
            <a:r>
              <a:rPr lang="en-US" sz="2000" dirty="0" err="1">
                <a:latin typeface="Brush Script MT" panose="03060802040406070304" pitchFamily="66" charset="0"/>
              </a:rPr>
              <a:t>neuronale</a:t>
            </a:r>
            <a:r>
              <a:rPr lang="en-US" sz="2000" dirty="0">
                <a:latin typeface="Brush Script MT" panose="03060802040406070304" pitchFamily="66" charset="0"/>
              </a:rPr>
              <a:t> </a:t>
            </a:r>
            <a:r>
              <a:rPr lang="en-US" sz="2000" dirty="0" err="1">
                <a:latin typeface="Brush Script MT" panose="03060802040406070304" pitchFamily="66" charset="0"/>
              </a:rPr>
              <a:t>convoluționale</a:t>
            </a:r>
            <a:r>
              <a:rPr lang="en-US" sz="2000" dirty="0">
                <a:latin typeface="Brush Script MT" panose="03060802040406070304" pitchFamily="66" charset="0"/>
              </a:rPr>
              <a:t> (CNN) </a:t>
            </a:r>
            <a:r>
              <a:rPr lang="en-US" sz="2000" dirty="0" err="1">
                <a:latin typeface="Brush Script MT" panose="03060802040406070304" pitchFamily="66" charset="0"/>
              </a:rPr>
              <a:t>pentru</a:t>
            </a:r>
            <a:r>
              <a:rPr lang="en-US" sz="2000" dirty="0">
                <a:latin typeface="Brush Script MT" panose="03060802040406070304" pitchFamily="66" charset="0"/>
              </a:rPr>
              <a:t> </a:t>
            </a:r>
            <a:r>
              <a:rPr lang="en-US" sz="2000" dirty="0" err="1">
                <a:latin typeface="Brush Script MT" panose="03060802040406070304" pitchFamily="66" charset="0"/>
              </a:rPr>
              <a:t>detecție</a:t>
            </a:r>
            <a:r>
              <a:rPr lang="en-US" sz="2000" dirty="0">
                <a:latin typeface="Brush Script MT" panose="03060802040406070304" pitchFamily="66" charset="0"/>
              </a:rPr>
              <a:t> de </a:t>
            </a:r>
            <a:r>
              <a:rPr lang="en-US" sz="2000" dirty="0" err="1">
                <a:latin typeface="Brush Script MT" panose="03060802040406070304" pitchFamily="66" charset="0"/>
              </a:rPr>
              <a:t>obiecte</a:t>
            </a:r>
            <a:endParaRPr lang="en-US" sz="20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686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3125EC-D1E9-DA68-1912-A47A09A48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488" y="662893"/>
            <a:ext cx="6001512" cy="61951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104596-B82D-4F45-5392-B6D47451C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Domeniul</a:t>
            </a:r>
            <a:r>
              <a:rPr lang="en-US" dirty="0"/>
              <a:t> Industrial de </a:t>
            </a:r>
            <a:r>
              <a:rPr lang="en-US" dirty="0" err="1"/>
              <a:t>Interes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659E5-5417-825A-8270-A62B4B0F3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6848856" cy="3767328"/>
          </a:xfrm>
        </p:spPr>
        <p:txBody>
          <a:bodyPr>
            <a:normAutofit/>
          </a:bodyPr>
          <a:lstStyle/>
          <a:p>
            <a:r>
              <a:rPr lang="en-US" sz="2000" dirty="0" err="1"/>
              <a:t>Sobolanii</a:t>
            </a:r>
            <a:r>
              <a:rPr lang="en-US" sz="2000" dirty="0"/>
              <a:t> sunt un </a:t>
            </a:r>
            <a:r>
              <a:rPr lang="en-US" sz="2000" dirty="0" err="1"/>
              <a:t>domeniu</a:t>
            </a:r>
            <a:r>
              <a:rPr lang="en-US" sz="2000" dirty="0"/>
              <a:t> </a:t>
            </a:r>
            <a:r>
              <a:rPr lang="en-US" sz="2000" dirty="0" err="1"/>
              <a:t>foarte</a:t>
            </a:r>
            <a:r>
              <a:rPr lang="en-US" sz="2000" dirty="0"/>
              <a:t> </a:t>
            </a:r>
            <a:r>
              <a:rPr lang="en-US" sz="2000" dirty="0" err="1"/>
              <a:t>cautat</a:t>
            </a:r>
            <a:r>
              <a:rPr lang="en-US" sz="2000" dirty="0"/>
              <a:t> </a:t>
            </a:r>
            <a:r>
              <a:rPr lang="en-US" sz="2000" dirty="0" err="1"/>
              <a:t>asa</a:t>
            </a:r>
            <a:r>
              <a:rPr lang="en-US" sz="2000" dirty="0"/>
              <a:t> ca </a:t>
            </a:r>
            <a:r>
              <a:rPr lang="en-US" sz="2000" dirty="0" err="1"/>
              <a:t>daca</a:t>
            </a:r>
            <a:r>
              <a:rPr lang="en-US" sz="2000" dirty="0"/>
              <a:t> </a:t>
            </a:r>
            <a:r>
              <a:rPr lang="en-US" sz="2000" dirty="0" err="1"/>
              <a:t>infiintam</a:t>
            </a:r>
            <a:r>
              <a:rPr lang="en-US" sz="2000" dirty="0"/>
              <a:t> un program special </a:t>
            </a:r>
            <a:r>
              <a:rPr lang="en-US" sz="2000" dirty="0" err="1"/>
              <a:t>pentru</a:t>
            </a:r>
            <a:r>
              <a:rPr lang="en-US" sz="2000" dirty="0"/>
              <a:t> a ii </a:t>
            </a:r>
            <a:r>
              <a:rPr lang="en-US" sz="2000" dirty="0" err="1"/>
              <a:t>cauta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bine </a:t>
            </a:r>
            <a:r>
              <a:rPr lang="en-US" sz="2000" dirty="0" err="1"/>
              <a:t>putem</a:t>
            </a:r>
            <a:r>
              <a:rPr lang="en-US" sz="2000" dirty="0"/>
              <a:t> </a:t>
            </a:r>
            <a:r>
              <a:rPr lang="en-US" sz="2000" dirty="0" err="1"/>
              <a:t>avea</a:t>
            </a:r>
            <a:r>
              <a:rPr lang="en-US" sz="2000" dirty="0"/>
              <a:t> </a:t>
            </a:r>
            <a:r>
              <a:rPr lang="en-US" sz="2000" dirty="0" err="1"/>
              <a:t>parte</a:t>
            </a:r>
            <a:r>
              <a:rPr lang="en-US" sz="2000" dirty="0"/>
              <a:t> de </a:t>
            </a:r>
            <a:r>
              <a:rPr lang="en-US" sz="2000" dirty="0" err="1"/>
              <a:t>profituri</a:t>
            </a:r>
            <a:r>
              <a:rPr lang="en-US" sz="2000" dirty="0"/>
              <a:t> </a:t>
            </a:r>
            <a:r>
              <a:rPr lang="en-US" sz="2000" dirty="0" err="1"/>
              <a:t>nemaipomenite</a:t>
            </a:r>
            <a:r>
              <a:rPr lang="en-US" sz="2000" dirty="0"/>
              <a:t> in </a:t>
            </a:r>
            <a:r>
              <a:rPr lang="en-US" sz="2000" dirty="0" err="1"/>
              <a:t>nenumarate</a:t>
            </a:r>
            <a:r>
              <a:rPr lang="en-US" sz="2000" dirty="0"/>
              <a:t> </a:t>
            </a:r>
            <a:r>
              <a:rPr lang="en-US" sz="2000" dirty="0" err="1"/>
              <a:t>domenii</a:t>
            </a:r>
            <a:r>
              <a:rPr lang="en-US" sz="2000" dirty="0"/>
              <a:t> precum </a:t>
            </a:r>
            <a:r>
              <a:rPr lang="en-US" sz="2000" dirty="0" err="1"/>
              <a:t>serviciile</a:t>
            </a:r>
            <a:r>
              <a:rPr lang="en-US" sz="2000" dirty="0"/>
              <a:t> de </a:t>
            </a:r>
            <a:r>
              <a:rPr lang="en-US" sz="2000" dirty="0" err="1"/>
              <a:t>exterminatori</a:t>
            </a:r>
            <a:r>
              <a:rPr lang="en-US" sz="2000" dirty="0"/>
              <a:t>, </a:t>
            </a:r>
            <a:r>
              <a:rPr lang="en-US" sz="2000" dirty="0" err="1"/>
              <a:t>spitalele</a:t>
            </a:r>
            <a:r>
              <a:rPr lang="en-US" sz="2000" dirty="0"/>
              <a:t> </a:t>
            </a:r>
            <a:r>
              <a:rPr lang="en-US" sz="2000" dirty="0" err="1"/>
              <a:t>ce</a:t>
            </a:r>
            <a:r>
              <a:rPr lang="en-US" sz="2000" dirty="0"/>
              <a:t> </a:t>
            </a:r>
            <a:r>
              <a:rPr lang="en-US" sz="2000" dirty="0" err="1"/>
              <a:t>cerceteaza</a:t>
            </a:r>
            <a:r>
              <a:rPr lang="en-US" sz="2000" dirty="0"/>
              <a:t> </a:t>
            </a:r>
            <a:r>
              <a:rPr lang="en-US" sz="2000" dirty="0" err="1"/>
              <a:t>boli</a:t>
            </a:r>
            <a:r>
              <a:rPr lang="en-US" sz="2000" dirty="0"/>
              <a:t> </a:t>
            </a:r>
            <a:r>
              <a:rPr lang="en-US" sz="2000" dirty="0" err="1"/>
              <a:t>mortale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pet shop</a:t>
            </a:r>
          </a:p>
          <a:p>
            <a:pPr marL="0" indent="0">
              <a:buNone/>
            </a:pPr>
            <a:r>
              <a:rPr lang="en-US" sz="1200" dirty="0"/>
              <a:t>(</a:t>
            </a:r>
            <a:r>
              <a:rPr lang="en-US" sz="1200" dirty="0" err="1"/>
              <a:t>domeniul</a:t>
            </a:r>
            <a:r>
              <a:rPr lang="en-US" sz="1200" dirty="0"/>
              <a:t> industrial – </a:t>
            </a:r>
            <a:r>
              <a:rPr lang="en-US" sz="1200" dirty="0" err="1"/>
              <a:t>controlul</a:t>
            </a:r>
            <a:r>
              <a:rPr lang="en-US" sz="1200" dirty="0"/>
              <a:t> </a:t>
            </a:r>
            <a:r>
              <a:rPr lang="en-US" sz="1200" dirty="0" err="1"/>
              <a:t>dăunătorilor</a:t>
            </a:r>
            <a:r>
              <a:rPr lang="en-US" sz="1200" dirty="0"/>
              <a:t> / </a:t>
            </a:r>
            <a:r>
              <a:rPr lang="en-US" sz="1200" dirty="0" err="1"/>
              <a:t>sănătate</a:t>
            </a:r>
            <a:r>
              <a:rPr lang="en-US" sz="1200" dirty="0"/>
              <a:t> </a:t>
            </a:r>
            <a:r>
              <a:rPr lang="en-US" sz="1200" dirty="0" err="1"/>
              <a:t>publică</a:t>
            </a:r>
            <a:r>
              <a:rPr lang="en-US" sz="1200" dirty="0"/>
              <a:t> / etc.)</a:t>
            </a:r>
          </a:p>
        </p:txBody>
      </p:sp>
    </p:spTree>
    <p:extLst>
      <p:ext uri="{BB962C8B-B14F-4D97-AF65-F5344CB8AC3E}">
        <p14:creationId xmlns:p14="http://schemas.microsoft.com/office/powerpoint/2010/main" val="83600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5DC98-253F-C6EE-5921-91B2835F5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Stadiul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actual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1734C-9C88-555E-0713-0D9274616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441447"/>
            <a:ext cx="6263640" cy="23328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/>
              <a:t>Sobolanii</a:t>
            </a:r>
            <a:r>
              <a:rPr lang="en-US" dirty="0"/>
              <a:t> sunt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mici</a:t>
            </a:r>
            <a:r>
              <a:rPr lang="en-US" dirty="0"/>
              <a:t>, </a:t>
            </a:r>
            <a:r>
              <a:rPr lang="en-US" dirty="0" err="1"/>
              <a:t>greu</a:t>
            </a:r>
            <a:r>
              <a:rPr lang="en-US" dirty="0"/>
              <a:t> de </a:t>
            </a:r>
            <a:r>
              <a:rPr lang="en-US" dirty="0" err="1"/>
              <a:t>identificat</a:t>
            </a:r>
            <a:r>
              <a:rPr lang="en-US" dirty="0"/>
              <a:t>, </a:t>
            </a:r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nevoie</a:t>
            </a:r>
            <a:r>
              <a:rPr lang="en-US" dirty="0"/>
              <a:t> de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unelte</a:t>
            </a:r>
            <a:r>
              <a:rPr lang="en-US" dirty="0"/>
              <a:t> </a:t>
            </a:r>
            <a:r>
              <a:rPr lang="en-US" dirty="0" err="1"/>
              <a:t>speciale</a:t>
            </a:r>
            <a:r>
              <a:rPr lang="en-US" dirty="0"/>
              <a:t> create specific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identificarea</a:t>
            </a:r>
            <a:r>
              <a:rPr lang="en-US" dirty="0"/>
              <a:t> </a:t>
            </a:r>
            <a:r>
              <a:rPr lang="en-US" dirty="0" err="1"/>
              <a:t>sobolanilor</a:t>
            </a:r>
            <a:endParaRPr lang="en-US" dirty="0"/>
          </a:p>
          <a:p>
            <a:r>
              <a:rPr lang="en-US" dirty="0" err="1"/>
              <a:t>Acest</a:t>
            </a:r>
            <a:r>
              <a:rPr lang="en-US" dirty="0"/>
              <a:t> SIA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imbunatatii</a:t>
            </a:r>
            <a:r>
              <a:rPr lang="en-US" dirty="0"/>
              <a:t> </a:t>
            </a:r>
            <a:r>
              <a:rPr lang="en-US" dirty="0" err="1">
                <a:latin typeface="Algerian" panose="04020705040A02060702" pitchFamily="82" charset="0"/>
              </a:rPr>
              <a:t>monitorizarea</a:t>
            </a:r>
            <a:r>
              <a:rPr lang="en-US" dirty="0">
                <a:latin typeface="Algerian" panose="04020705040A02060702" pitchFamily="82" charset="0"/>
              </a:rPr>
              <a:t> </a:t>
            </a:r>
            <a:r>
              <a:rPr lang="en-US" dirty="0" err="1">
                <a:latin typeface="Algerian" panose="04020705040A02060702" pitchFamily="82" charset="0"/>
              </a:rPr>
              <a:t>automată</a:t>
            </a:r>
            <a:r>
              <a:rPr lang="en-US" dirty="0">
                <a:latin typeface="Algerian" panose="04020705040A02060702" pitchFamily="82" charset="0"/>
              </a:rPr>
              <a:t> a </a:t>
            </a:r>
            <a:r>
              <a:rPr lang="en-US" dirty="0" err="1">
                <a:latin typeface="Algerian" panose="04020705040A02060702" pitchFamily="82" charset="0"/>
              </a:rPr>
              <a:t>camerelor</a:t>
            </a:r>
            <a:r>
              <a:rPr lang="en-US" dirty="0">
                <a:latin typeface="Algerian" panose="04020705040A02060702" pitchFamily="82" charset="0"/>
              </a:rPr>
              <a:t> video </a:t>
            </a:r>
            <a:r>
              <a:rPr lang="en-US" dirty="0" err="1">
                <a:latin typeface="Algerian" panose="04020705040A02060702" pitchFamily="82" charset="0"/>
              </a:rPr>
              <a:t>în</a:t>
            </a:r>
            <a:r>
              <a:rPr lang="en-US" dirty="0">
                <a:latin typeface="Algerian" panose="04020705040A02060702" pitchFamily="82" charset="0"/>
              </a:rPr>
              <a:t> loc de </a:t>
            </a:r>
            <a:r>
              <a:rPr lang="en-US" dirty="0" err="1">
                <a:latin typeface="Algerian" panose="04020705040A02060702" pitchFamily="82" charset="0"/>
              </a:rPr>
              <a:t>inspecții</a:t>
            </a:r>
            <a:r>
              <a:rPr lang="en-US" dirty="0">
                <a:latin typeface="Algerian" panose="04020705040A02060702" pitchFamily="82" charset="0"/>
              </a:rPr>
              <a:t> </a:t>
            </a:r>
            <a:r>
              <a:rPr lang="en-US" dirty="0" err="1">
                <a:latin typeface="Algerian" panose="04020705040A02060702" pitchFamily="82" charset="0"/>
              </a:rPr>
              <a:t>manuale</a:t>
            </a:r>
            <a:r>
              <a:rPr lang="en-US" dirty="0">
                <a:latin typeface="Algerian" panose="04020705040A02060702" pitchFamily="82" charset="0"/>
              </a:rPr>
              <a:t>, </a:t>
            </a:r>
            <a:r>
              <a:rPr lang="en-US" dirty="0" err="1">
                <a:latin typeface="Algerian" panose="04020705040A02060702" pitchFamily="82" charset="0"/>
              </a:rPr>
              <a:t>reducerea</a:t>
            </a:r>
            <a:r>
              <a:rPr lang="en-US" dirty="0">
                <a:latin typeface="Algerian" panose="04020705040A02060702" pitchFamily="82" charset="0"/>
              </a:rPr>
              <a:t> </a:t>
            </a:r>
            <a:r>
              <a:rPr lang="en-US" dirty="0" err="1">
                <a:latin typeface="Algerian" panose="04020705040A02060702" pitchFamily="82" charset="0"/>
              </a:rPr>
              <a:t>timpului</a:t>
            </a:r>
            <a:r>
              <a:rPr lang="en-US" dirty="0">
                <a:latin typeface="Algerian" panose="04020705040A02060702" pitchFamily="82" charset="0"/>
              </a:rPr>
              <a:t> de </a:t>
            </a:r>
            <a:r>
              <a:rPr lang="en-US" dirty="0" err="1">
                <a:latin typeface="Algerian" panose="04020705040A02060702" pitchFamily="82" charset="0"/>
              </a:rPr>
              <a:t>răspuns</a:t>
            </a:r>
            <a:r>
              <a:rPr lang="en-US" dirty="0">
                <a:latin typeface="Algerian" panose="04020705040A02060702" pitchFamily="82" charset="0"/>
              </a:rPr>
              <a:t> la </a:t>
            </a:r>
            <a:r>
              <a:rPr lang="en-US" dirty="0" err="1">
                <a:latin typeface="Algerian" panose="04020705040A02060702" pitchFamily="82" charset="0"/>
              </a:rPr>
              <a:t>infestare</a:t>
            </a:r>
            <a:r>
              <a:rPr lang="en-US" dirty="0">
                <a:latin typeface="Algerian" panose="04020705040A02060702" pitchFamily="82" charset="0"/>
              </a:rPr>
              <a:t> </a:t>
            </a:r>
            <a:r>
              <a:rPr lang="en-US" dirty="0">
                <a:latin typeface="+mj-lt"/>
              </a:rPr>
              <a:t>cat </a:t>
            </a:r>
            <a:r>
              <a:rPr lang="en-US" dirty="0" err="1">
                <a:latin typeface="+mj-lt"/>
              </a:rPr>
              <a:t>si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costurile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pentru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monitorizarea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rozatoarelor</a:t>
            </a:r>
            <a:endParaRPr lang="en-US" dirty="0">
              <a:latin typeface="+mj-lt"/>
            </a:endParaRPr>
          </a:p>
        </p:txBody>
      </p:sp>
      <p:pic>
        <p:nvPicPr>
          <p:cNvPr id="6" name="Picture 5" descr="A mouse in the sand&#10;&#10;AI-generated content may be incorrect.">
            <a:extLst>
              <a:ext uri="{FF2B5EF4-FFF2-40B4-BE49-F238E27FC236}">
                <a16:creationId xmlns:a16="http://schemas.microsoft.com/office/drawing/2014/main" id="{1076BE8D-CE5D-E416-713F-81BC6B605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102" y="1311808"/>
            <a:ext cx="4882690" cy="3356848"/>
          </a:xfrm>
          <a:prstGeom prst="rect">
            <a:avLst/>
          </a:prstGeom>
          <a:effectLst>
            <a:softEdge rad="266700"/>
          </a:effectLst>
        </p:spPr>
      </p:pic>
      <p:pic>
        <p:nvPicPr>
          <p:cNvPr id="8" name="Picture 7" descr="Two rats standing next to each other&#10;&#10;AI-generated content may be incorrect.">
            <a:extLst>
              <a:ext uri="{FF2B5EF4-FFF2-40B4-BE49-F238E27FC236}">
                <a16:creationId xmlns:a16="http://schemas.microsoft.com/office/drawing/2014/main" id="{27EAB796-37B4-B10F-5DB0-799E4FE92C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9" y="4774311"/>
            <a:ext cx="11074056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7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phere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A076-41E7-D0D5-F8CB-CEE33BE24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Beneficii</a:t>
            </a:r>
            <a:r>
              <a:rPr lang="en-US" dirty="0"/>
              <a:t> </a:t>
            </a:r>
            <a:r>
              <a:rPr lang="en-US" dirty="0" err="1"/>
              <a:t>masurabile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8BF24-7272-89DF-A9FB-DB0CA674E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6839712" cy="488391"/>
          </a:xfrm>
        </p:spPr>
        <p:txBody>
          <a:bodyPr/>
          <a:lstStyle/>
          <a:p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AI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aduce</a:t>
            </a:r>
            <a:r>
              <a:rPr lang="en-US" dirty="0"/>
              <a:t> </a:t>
            </a:r>
            <a:r>
              <a:rPr lang="en-US" dirty="0" err="1"/>
              <a:t>beneficii</a:t>
            </a:r>
            <a:r>
              <a:rPr lang="en-US" dirty="0"/>
              <a:t> </a:t>
            </a:r>
            <a:r>
              <a:rPr lang="en-US" dirty="0" err="1"/>
              <a:t>masurabile</a:t>
            </a:r>
            <a:r>
              <a:rPr lang="en-US" dirty="0"/>
              <a:t> in </a:t>
            </a:r>
          </a:p>
        </p:txBody>
      </p:sp>
      <p:pic>
        <p:nvPicPr>
          <p:cNvPr id="6" name="Content Placeholder 5" descr="A close up of a rodent&#10;&#10;AI-generated content may be incorrect.">
            <a:extLst>
              <a:ext uri="{FF2B5EF4-FFF2-40B4-BE49-F238E27FC236}">
                <a16:creationId xmlns:a16="http://schemas.microsoft.com/office/drawing/2014/main" id="{EE7425C8-CC9F-F445-671C-3D971F54BA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248" y="647950"/>
            <a:ext cx="3971544" cy="6210050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A4530F-E324-39B9-F08C-A1CA56A79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20" y="3067001"/>
            <a:ext cx="6687483" cy="7240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31FB6D-F491-EA10-570F-D6D5638281D5}"/>
              </a:ext>
            </a:extLst>
          </p:cNvPr>
          <p:cNvSpPr txBox="1"/>
          <p:nvPr/>
        </p:nvSpPr>
        <p:spPr>
          <a:xfrm>
            <a:off x="521207" y="4416555"/>
            <a:ext cx="642789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Acest</a:t>
            </a:r>
            <a:r>
              <a:rPr lang="en-US" dirty="0"/>
              <a:t> SIA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aduce</a:t>
            </a:r>
            <a:r>
              <a:rPr lang="en-US" dirty="0"/>
              <a:t> </a:t>
            </a:r>
            <a:r>
              <a:rPr lang="en-US" dirty="0" err="1"/>
              <a:t>benefici</a:t>
            </a:r>
            <a:r>
              <a:rPr lang="en-US" dirty="0"/>
              <a:t> </a:t>
            </a:r>
            <a:r>
              <a:rPr lang="en-US" dirty="0" err="1"/>
              <a:t>masurabile</a:t>
            </a:r>
            <a:r>
              <a:rPr lang="en-US" dirty="0"/>
              <a:t> in</a:t>
            </a:r>
            <a:br>
              <a:rPr lang="en-US" dirty="0"/>
            </a:br>
            <a:r>
              <a:rPr lang="en-US" sz="4800" dirty="0" err="1">
                <a:latin typeface="Rastanty Cortez" panose="020F0502020204030204" pitchFamily="2" charset="0"/>
              </a:rPr>
              <a:t>Abilitatea</a:t>
            </a:r>
            <a:r>
              <a:rPr lang="en-US" sz="4800" dirty="0">
                <a:latin typeface="Rastanty Cortez" panose="020F0502020204030204" pitchFamily="2" charset="0"/>
              </a:rPr>
              <a:t> De A </a:t>
            </a:r>
            <a:r>
              <a:rPr lang="en-US" sz="4800" dirty="0" err="1">
                <a:latin typeface="Rastanty Cortez" panose="020F0502020204030204" pitchFamily="2" charset="0"/>
              </a:rPr>
              <a:t>Identifica</a:t>
            </a:r>
            <a:r>
              <a:rPr lang="en-US" sz="4800" dirty="0">
                <a:latin typeface="Rastanty Cortez" panose="020F0502020204030204" pitchFamily="2" charset="0"/>
              </a:rPr>
              <a:t> </a:t>
            </a:r>
            <a:r>
              <a:rPr lang="en-US" sz="4800" dirty="0" err="1">
                <a:latin typeface="Rastanty Cortez" panose="020F0502020204030204" pitchFamily="2" charset="0"/>
              </a:rPr>
              <a:t>Sobolani</a:t>
            </a:r>
            <a:endParaRPr lang="en-US" sz="4800" dirty="0">
              <a:latin typeface="Rastanty Cortez" panose="020F0502020204030204" pitchFamily="2" charset="0"/>
            </a:endParaRPr>
          </a:p>
          <a:p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imbunatatii</a:t>
            </a:r>
            <a:r>
              <a:rPr lang="en-US" dirty="0"/>
              <a:t> </a:t>
            </a:r>
            <a:r>
              <a:rPr lang="en-US" dirty="0" err="1"/>
              <a:t>sanatatea</a:t>
            </a:r>
            <a:r>
              <a:rPr lang="en-US" dirty="0"/>
              <a:t> </a:t>
            </a:r>
            <a:r>
              <a:rPr lang="en-US" dirty="0" err="1"/>
              <a:t>bucurestenilor</a:t>
            </a:r>
            <a:r>
              <a:rPr lang="en-US" dirty="0"/>
              <a:t> de </a:t>
            </a:r>
            <a:r>
              <a:rPr lang="en-US" dirty="0" err="1"/>
              <a:t>pretutindeni</a:t>
            </a:r>
            <a:r>
              <a:rPr lang="en-US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1519203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43000">
              <a:schemeClr val="bg1"/>
            </a:gs>
            <a:gs pos="74000">
              <a:schemeClr val="bg1"/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AD5EA-C790-2E47-75F7-E18A6DD72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Surse</a:t>
            </a:r>
            <a:r>
              <a:rPr lang="en-US" dirty="0"/>
              <a:t> </a:t>
            </a:r>
            <a:r>
              <a:rPr lang="en-US" dirty="0" err="1"/>
              <a:t>relevante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3B311-4763-C1D9-EC0A-8868BF35A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7032" y="2240279"/>
            <a:ext cx="11039856" cy="3999155"/>
          </a:xfrm>
        </p:spPr>
        <p:txBody>
          <a:bodyPr>
            <a:normAutofit/>
          </a:bodyPr>
          <a:lstStyle/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“How do you find a rat in your house?” - </a:t>
            </a:r>
            <a:r>
              <a:rPr lang="en-US" dirty="0">
                <a:effectLst/>
                <a:hlinkClick r:id="rId2"/>
              </a:rPr>
              <a:t>https://www.quora.com/How-do-you-find-a-rat-in-your-house</a:t>
            </a:r>
            <a:r>
              <a:rPr lang="en-US" dirty="0">
                <a:effectLst/>
              </a:rPr>
              <a:t> (</a:t>
            </a:r>
            <a:r>
              <a:rPr lang="en-US" dirty="0" err="1">
                <a:effectLst/>
              </a:rPr>
              <a:t>putem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observa</a:t>
            </a:r>
            <a:r>
              <a:rPr lang="en-US" dirty="0">
                <a:effectLst/>
              </a:rPr>
              <a:t> cum </a:t>
            </a:r>
            <a:r>
              <a:rPr lang="en-US" dirty="0" err="1">
                <a:effectLst/>
              </a:rPr>
              <a:t>oamenii</a:t>
            </a:r>
            <a:r>
              <a:rPr lang="en-US" dirty="0">
                <a:effectLst/>
              </a:rPr>
              <a:t> au </a:t>
            </a:r>
            <a:r>
              <a:rPr lang="en-US" dirty="0" err="1">
                <a:effectLst/>
              </a:rPr>
              <a:t>probleme</a:t>
            </a:r>
            <a:r>
              <a:rPr lang="en-US" dirty="0">
                <a:effectLst/>
              </a:rPr>
              <a:t> in </a:t>
            </a:r>
            <a:r>
              <a:rPr lang="en-US" dirty="0" err="1">
                <a:effectLst/>
              </a:rPr>
              <a:t>gasirea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sobolanilor</a:t>
            </a:r>
            <a:r>
              <a:rPr lang="en-US" dirty="0">
                <a:effectLst/>
              </a:rPr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b="1" dirty="0"/>
              <a:t>I can't find any rats!</a:t>
            </a:r>
            <a:r>
              <a:rPr lang="en-US" dirty="0"/>
              <a:t>” - </a:t>
            </a:r>
            <a:r>
              <a:rPr lang="en-US" dirty="0">
                <a:hlinkClick r:id="rId3"/>
              </a:rPr>
              <a:t>https://www.reddit.com/r/reddeadredemption/comments/eenoie/i_cant_find_any_rats/</a:t>
            </a:r>
            <a:endParaRPr lang="en-US" dirty="0"/>
          </a:p>
          <a:p>
            <a:r>
              <a:rPr lang="en-US" dirty="0"/>
              <a:t>“The collection and analysis of resting rat saliva” - </a:t>
            </a:r>
            <a:r>
              <a:rPr lang="en-US" dirty="0">
                <a:hlinkClick r:id="rId4"/>
              </a:rPr>
              <a:t>https://www.sciencedirect.com/science/article/pii/0003996974901733</a:t>
            </a:r>
            <a:r>
              <a:rPr lang="en-US" dirty="0"/>
              <a:t> (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observa</a:t>
            </a:r>
            <a:r>
              <a:rPr lang="en-US" dirty="0"/>
              <a:t> </a:t>
            </a:r>
            <a:r>
              <a:rPr lang="en-US" dirty="0" err="1"/>
              <a:t>nevoia</a:t>
            </a:r>
            <a:r>
              <a:rPr lang="en-US" dirty="0"/>
              <a:t> de </a:t>
            </a:r>
            <a:r>
              <a:rPr lang="en-US" dirty="0" err="1"/>
              <a:t>sobolani</a:t>
            </a:r>
            <a:r>
              <a:rPr lang="en-US" dirty="0"/>
              <a:t>)</a:t>
            </a:r>
          </a:p>
          <a:p>
            <a:r>
              <a:rPr lang="en-US" dirty="0"/>
              <a:t>“</a:t>
            </a:r>
            <a:r>
              <a:rPr lang="en-US" b="1" dirty="0"/>
              <a:t>Why rats are overrunning our cities” - </a:t>
            </a:r>
            <a:r>
              <a:rPr lang="en-US" dirty="0">
                <a:hlinkClick r:id="rId5"/>
              </a:rPr>
              <a:t>https://www.bbc.com/news/articles/c4gvk397j80o</a:t>
            </a:r>
            <a:endParaRPr lang="en-US" dirty="0"/>
          </a:p>
          <a:p>
            <a:r>
              <a:rPr lang="en-US" dirty="0"/>
              <a:t>“Muslim religious scholars taught that was a "martyrdom and mercy" from God” - </a:t>
            </a:r>
            <a:r>
              <a:rPr lang="en-US" dirty="0">
                <a:hlinkClick r:id="rId6"/>
              </a:rPr>
              <a:t>https://en.wikipedia.org/wiki/Black_Death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536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8F488-2FF5-AA20-8051-C691C14EE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Rolul</a:t>
            </a:r>
            <a:r>
              <a:rPr lang="en-US" dirty="0">
                <a:solidFill>
                  <a:schemeClr val="bg1"/>
                </a:solidFill>
              </a:rPr>
              <a:t> SIA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4931B-AC3D-85A5-D866-D2F5E11FD8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Rolul</a:t>
            </a:r>
            <a:r>
              <a:rPr lang="en-US" dirty="0">
                <a:solidFill>
                  <a:schemeClr val="bg1"/>
                </a:solidFill>
              </a:rPr>
              <a:t> SIA </a:t>
            </a:r>
            <a:r>
              <a:rPr lang="en-US" dirty="0" err="1">
                <a:solidFill>
                  <a:schemeClr val="bg1"/>
                </a:solidFill>
              </a:rPr>
              <a:t>este</a:t>
            </a:r>
            <a:r>
              <a:rPr lang="en-US" dirty="0">
                <a:solidFill>
                  <a:schemeClr val="bg1"/>
                </a:solidFill>
              </a:rPr>
              <a:t> de a </a:t>
            </a:r>
            <a:r>
              <a:rPr lang="en-US" dirty="0" err="1">
                <a:solidFill>
                  <a:schemeClr val="bg1"/>
                </a:solidFill>
              </a:rPr>
              <a:t>automa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calcula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locatia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sobolanilor</a:t>
            </a:r>
            <a:r>
              <a:rPr lang="en-US" dirty="0">
                <a:solidFill>
                  <a:schemeClr val="bg1"/>
                </a:solidFill>
              </a:rPr>
              <a:t> in </a:t>
            </a:r>
            <a:r>
              <a:rPr lang="en-US" dirty="0" err="1">
                <a:solidFill>
                  <a:schemeClr val="bg1"/>
                </a:solidFill>
              </a:rPr>
              <a:t>imagini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ce</a:t>
            </a:r>
            <a:r>
              <a:rPr lang="en-US" dirty="0">
                <a:solidFill>
                  <a:schemeClr val="bg1"/>
                </a:solidFill>
              </a:rPr>
              <a:t> ne </a:t>
            </a:r>
            <a:r>
              <a:rPr lang="en-US" dirty="0" err="1">
                <a:solidFill>
                  <a:schemeClr val="bg1"/>
                </a:solidFill>
              </a:rPr>
              <a:t>va</a:t>
            </a:r>
            <a:r>
              <a:rPr lang="en-US" dirty="0">
                <a:solidFill>
                  <a:schemeClr val="bg1"/>
                </a:solidFill>
              </a:rPr>
              <a:t> beneficia </a:t>
            </a:r>
            <a:r>
              <a:rPr lang="en-US" dirty="0" err="1">
                <a:solidFill>
                  <a:schemeClr val="bg1"/>
                </a:solidFill>
              </a:rPr>
              <a:t>enorm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deoarece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acest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lucru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putea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dezvalui</a:t>
            </a:r>
            <a:r>
              <a:rPr lang="en-US" dirty="0">
                <a:solidFill>
                  <a:schemeClr val="bg1"/>
                </a:solidFill>
              </a:rPr>
              <a:t> ca </a:t>
            </a:r>
            <a:r>
              <a:rPr lang="en-US" dirty="0" err="1">
                <a:solidFill>
                  <a:schemeClr val="bg1"/>
                </a:solidFill>
              </a:rPr>
              <a:t>locatia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avea</a:t>
            </a:r>
            <a:r>
              <a:rPr lang="en-US" dirty="0">
                <a:solidFill>
                  <a:schemeClr val="bg1"/>
                </a:solidFill>
              </a:rPr>
              <a:t> o INFESTATIE</a:t>
            </a:r>
          </a:p>
        </p:txBody>
      </p:sp>
      <p:pic>
        <p:nvPicPr>
          <p:cNvPr id="6" name="Picture 5" descr="A group of rats on the ground&#10;&#10;AI-generated content may be incorrect.">
            <a:extLst>
              <a:ext uri="{FF2B5EF4-FFF2-40B4-BE49-F238E27FC236}">
                <a16:creationId xmlns:a16="http://schemas.microsoft.com/office/drawing/2014/main" id="{F68136CF-0043-24D6-9023-3378C5028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085" y="658368"/>
            <a:ext cx="5904707" cy="522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02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684A-FE77-421E-420D-820EA2B4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Arhitectura</a:t>
            </a:r>
            <a:r>
              <a:rPr lang="en-US" dirty="0"/>
              <a:t> SIA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5260E-1506-9ECD-3C6A-C5B7C8467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879592" cy="3767328"/>
          </a:xfrm>
        </p:spPr>
        <p:txBody>
          <a:bodyPr/>
          <a:lstStyle/>
          <a:p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 hardware precum: calculator</a:t>
            </a:r>
          </a:p>
          <a:p>
            <a:r>
              <a:rPr lang="en-US" dirty="0"/>
              <a:t>Si </a:t>
            </a:r>
            <a:r>
              <a:rPr lang="en-US" dirty="0" err="1"/>
              <a:t>componente</a:t>
            </a:r>
            <a:r>
              <a:rPr lang="en-US" dirty="0"/>
              <a:t> software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limbaj</a:t>
            </a:r>
            <a:r>
              <a:rPr lang="en-US" dirty="0"/>
              <a:t> de cod </a:t>
            </a:r>
            <a:r>
              <a:rPr lang="en-US" dirty="0" err="1"/>
              <a:t>inteligent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bine </a:t>
            </a:r>
            <a:r>
              <a:rPr lang="en-US" dirty="0" err="1"/>
              <a:t>structurat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da </a:t>
            </a:r>
            <a:r>
              <a:rPr lang="en-US" dirty="0" err="1"/>
              <a:t>viata</a:t>
            </a:r>
            <a:r>
              <a:rPr lang="en-US" dirty="0"/>
              <a:t> </a:t>
            </a:r>
            <a:r>
              <a:rPr lang="en-US" dirty="0" err="1"/>
              <a:t>inteligentei</a:t>
            </a:r>
            <a:r>
              <a:rPr lang="en-US" dirty="0"/>
              <a:t> </a:t>
            </a:r>
            <a:r>
              <a:rPr lang="en-US" dirty="0" err="1"/>
              <a:t>artificiale</a:t>
            </a:r>
            <a:r>
              <a:rPr lang="en-US" dirty="0"/>
              <a:t> </a:t>
            </a:r>
            <a:r>
              <a:rPr lang="en-US" dirty="0" err="1"/>
              <a:t>incat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poata</a:t>
            </a:r>
            <a:r>
              <a:rPr lang="en-US" dirty="0"/>
              <a:t> </a:t>
            </a:r>
            <a:r>
              <a:rPr lang="en-US" dirty="0" err="1"/>
              <a:t>muncii</a:t>
            </a:r>
            <a:r>
              <a:rPr lang="en-US" dirty="0"/>
              <a:t> la </a:t>
            </a:r>
            <a:r>
              <a:rPr lang="en-US" dirty="0" err="1"/>
              <a:t>gasit</a:t>
            </a:r>
            <a:r>
              <a:rPr lang="en-US" dirty="0"/>
              <a:t> de </a:t>
            </a:r>
            <a:r>
              <a:rPr lang="en-US" dirty="0" err="1"/>
              <a:t>sobolani</a:t>
            </a:r>
            <a:r>
              <a:rPr lang="en-US" dirty="0"/>
              <a:t> cat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curand</a:t>
            </a:r>
            <a:r>
              <a:rPr lang="en-US" dirty="0"/>
              <a:t>.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realiza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python, un </a:t>
            </a:r>
            <a:r>
              <a:rPr lang="en-US" dirty="0" err="1"/>
              <a:t>limbaj</a:t>
            </a:r>
            <a:r>
              <a:rPr lang="en-US" dirty="0"/>
              <a:t> de cod high-level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bun </a:t>
            </a:r>
            <a:r>
              <a:rPr lang="en-US" dirty="0" err="1"/>
              <a:t>si</a:t>
            </a:r>
            <a:r>
              <a:rPr lang="en-US" dirty="0"/>
              <a:t> cu </a:t>
            </a:r>
            <a:r>
              <a:rPr lang="en-US" dirty="0" err="1"/>
              <a:t>extrem</a:t>
            </a:r>
            <a:r>
              <a:rPr lang="en-US" dirty="0"/>
              <a:t> de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potention</a:t>
            </a:r>
            <a:r>
              <a:rPr lang="en-US" dirty="0"/>
              <a:t> in </a:t>
            </a:r>
            <a:r>
              <a:rPr lang="en-US" dirty="0" err="1"/>
              <a:t>nenumarate</a:t>
            </a:r>
            <a:r>
              <a:rPr lang="en-US" dirty="0"/>
              <a:t> </a:t>
            </a:r>
            <a:r>
              <a:rPr lang="en-US" dirty="0" err="1"/>
              <a:t>domenii</a:t>
            </a:r>
            <a:r>
              <a:rPr lang="en-US" dirty="0"/>
              <a:t>. Motiv </a:t>
            </a:r>
            <a:r>
              <a:rPr lang="en-US" dirty="0" err="1"/>
              <a:t>pentru</a:t>
            </a:r>
            <a:r>
              <a:rPr lang="en-US" dirty="0"/>
              <a:t> care o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folosim</a:t>
            </a:r>
            <a:r>
              <a:rPr lang="en-US" dirty="0"/>
              <a:t> LabVIEW.</a:t>
            </a:r>
          </a:p>
          <a:p>
            <a:r>
              <a:rPr lang="en-US" dirty="0"/>
              <a:t>Alte </a:t>
            </a:r>
            <a:r>
              <a:rPr lang="en-US" dirty="0" err="1"/>
              <a:t>surse</a:t>
            </a:r>
            <a:r>
              <a:rPr lang="en-US" dirty="0"/>
              <a:t> soft sunt: </a:t>
            </a:r>
            <a:r>
              <a:rPr lang="en-US" dirty="0" err="1"/>
              <a:t>imaginile</a:t>
            </a:r>
            <a:r>
              <a:rPr lang="en-US" dirty="0"/>
              <a:t> (</a:t>
            </a:r>
            <a:r>
              <a:rPr lang="en-US" dirty="0">
                <a:latin typeface="Impact" panose="020B0806030902050204" pitchFamily="34" charset="0"/>
              </a:rPr>
              <a:t>LOGIC 💯</a:t>
            </a:r>
            <a:r>
              <a:rPr lang="en-US" dirty="0"/>
              <a:t>)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identificat</a:t>
            </a:r>
            <a:r>
              <a:rPr lang="en-US" dirty="0"/>
              <a:t>/</a:t>
            </a:r>
            <a:r>
              <a:rPr lang="en-US" dirty="0" err="1"/>
              <a:t>antrenare</a:t>
            </a:r>
            <a:endParaRPr lang="en-US" dirty="0"/>
          </a:p>
        </p:txBody>
      </p:sp>
      <p:pic>
        <p:nvPicPr>
          <p:cNvPr id="6" name="Picture 5" descr="A hairless rat on a wood floor&#10;&#10;AI-generated content may be incorrect.">
            <a:extLst>
              <a:ext uri="{FF2B5EF4-FFF2-40B4-BE49-F238E27FC236}">
                <a16:creationId xmlns:a16="http://schemas.microsoft.com/office/drawing/2014/main" id="{A121C1FE-6DDE-9F64-FF77-5018387D1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824" y="1874520"/>
            <a:ext cx="4471416" cy="4471416"/>
          </a:xfrm>
          <a:prstGeom prst="rect">
            <a:avLst/>
          </a:prstGeom>
          <a:effectLst>
            <a:glow rad="330200">
              <a:srgbClr val="FDB9E1"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2140305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E2727-0335-4DE9-0DBF-7E67D3A30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Domenii</a:t>
            </a:r>
            <a:r>
              <a:rPr lang="en-US" dirty="0"/>
              <a:t> de </a:t>
            </a:r>
            <a:r>
              <a:rPr lang="en-US" dirty="0" err="1"/>
              <a:t>utilizare</a:t>
            </a:r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97558-6275-F203-919D-BC1263E70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6236208" cy="3767328"/>
          </a:xfrm>
        </p:spPr>
        <p:txBody>
          <a:bodyPr/>
          <a:lstStyle/>
          <a:p>
            <a:r>
              <a:rPr lang="en-US" dirty="0" err="1"/>
              <a:t>Oamenii</a:t>
            </a:r>
            <a:r>
              <a:rPr lang="en-US" dirty="0"/>
              <a:t> </a:t>
            </a:r>
            <a:r>
              <a:rPr lang="en-US" dirty="0" err="1"/>
              <a:t>seriosi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identifice</a:t>
            </a:r>
            <a:r>
              <a:rPr lang="en-US" dirty="0"/>
              <a:t> </a:t>
            </a:r>
            <a:r>
              <a:rPr lang="en-US" dirty="0" err="1"/>
              <a:t>sobolani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nerabdatori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utilizeze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SIA 😊</a:t>
            </a:r>
          </a:p>
          <a:p>
            <a:r>
              <a:rPr lang="en-US" dirty="0"/>
              <a:t>De la </a:t>
            </a:r>
            <a:r>
              <a:rPr lang="en-US" dirty="0" err="1"/>
              <a:t>oameni</a:t>
            </a:r>
            <a:r>
              <a:rPr lang="en-US" dirty="0"/>
              <a:t> </a:t>
            </a:r>
            <a:r>
              <a:rPr lang="en-US" dirty="0" err="1"/>
              <a:t>obisnuiti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pazeasca</a:t>
            </a:r>
            <a:r>
              <a:rPr lang="en-US" dirty="0"/>
              <a:t> </a:t>
            </a:r>
            <a:r>
              <a:rPr lang="en-US" dirty="0" err="1"/>
              <a:t>locuintele</a:t>
            </a:r>
            <a:r>
              <a:rPr lang="en-US" dirty="0"/>
              <a:t> de </a:t>
            </a:r>
            <a:r>
              <a:rPr lang="en-US" dirty="0" err="1"/>
              <a:t>sobolanii</a:t>
            </a:r>
            <a:r>
              <a:rPr lang="en-US" dirty="0"/>
              <a:t> </a:t>
            </a:r>
            <a:r>
              <a:rPr lang="en-US" dirty="0" err="1"/>
              <a:t>silentiosi</a:t>
            </a:r>
            <a:r>
              <a:rPr lang="en-US" dirty="0"/>
              <a:t> </a:t>
            </a:r>
            <a:r>
              <a:rPr lang="en-US" dirty="0" err="1"/>
              <a:t>pana</a:t>
            </a:r>
            <a:r>
              <a:rPr lang="en-US" dirty="0"/>
              <a:t> la </a:t>
            </a:r>
            <a:r>
              <a:rPr lang="en-US" dirty="0" err="1"/>
              <a:t>oamenii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seriosi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pazeasca</a:t>
            </a:r>
            <a:r>
              <a:rPr lang="en-US" dirty="0"/>
              <a:t> Romania de </a:t>
            </a:r>
            <a:r>
              <a:rPr lang="en-US" dirty="0" err="1"/>
              <a:t>potentialele</a:t>
            </a:r>
            <a:r>
              <a:rPr lang="en-US" dirty="0"/>
              <a:t> </a:t>
            </a:r>
            <a:r>
              <a:rPr lang="en-US" dirty="0" err="1"/>
              <a:t>infestatii</a:t>
            </a:r>
            <a:r>
              <a:rPr lang="en-US" dirty="0"/>
              <a:t> de </a:t>
            </a:r>
            <a:r>
              <a:rPr lang="en-US" dirty="0" err="1"/>
              <a:t>sobolani</a:t>
            </a:r>
            <a:r>
              <a:rPr lang="en-US" dirty="0"/>
              <a:t>.</a:t>
            </a:r>
          </a:p>
          <a:p>
            <a:r>
              <a:rPr lang="en-US" dirty="0" err="1"/>
              <a:t>Potentiali</a:t>
            </a:r>
            <a:r>
              <a:rPr lang="en-US" dirty="0"/>
              <a:t> </a:t>
            </a:r>
            <a:r>
              <a:rPr lang="en-US" dirty="0" err="1"/>
              <a:t>utilizatori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putea</a:t>
            </a:r>
            <a:r>
              <a:rPr lang="en-US" dirty="0"/>
              <a:t> fi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folosii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SIA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identifica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lucruri</a:t>
            </a:r>
            <a:r>
              <a:rPr lang="en-US" dirty="0"/>
              <a:t> in </a:t>
            </a:r>
            <a:r>
              <a:rPr lang="en-US" dirty="0" err="1"/>
              <a:t>imagini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inregistrari</a:t>
            </a:r>
            <a:r>
              <a:rPr lang="en-US" dirty="0"/>
              <a:t>.</a:t>
            </a:r>
          </a:p>
        </p:txBody>
      </p:sp>
      <p:pic>
        <p:nvPicPr>
          <p:cNvPr id="6" name="Picture 5" descr="A rat standing on the ground&#10;&#10;AI-generated content may be incorrect.">
            <a:extLst>
              <a:ext uri="{FF2B5EF4-FFF2-40B4-BE49-F238E27FC236}">
                <a16:creationId xmlns:a16="http://schemas.microsoft.com/office/drawing/2014/main" id="{D63755F5-F8DE-6285-A40B-7150C5DCE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40" y="658368"/>
            <a:ext cx="4568952" cy="3319272"/>
          </a:xfrm>
          <a:prstGeom prst="rect">
            <a:avLst/>
          </a:prstGeom>
          <a:effectLst>
            <a:glow rad="127000">
              <a:schemeClr val="tx1"/>
            </a:glow>
          </a:effectLst>
        </p:spPr>
      </p:pic>
    </p:spTree>
    <p:extLst>
      <p:ext uri="{BB962C8B-B14F-4D97-AF65-F5344CB8AC3E}">
        <p14:creationId xmlns:p14="http://schemas.microsoft.com/office/powerpoint/2010/main" val="848307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6">
                <a:lumMod val="60000"/>
                <a:lumOff val="40000"/>
              </a:schemeClr>
            </a:gs>
            <a:gs pos="0">
              <a:schemeClr val="bg1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15C0-BAAD-BA83-9F78-6D97AB27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Fluxul</a:t>
            </a:r>
            <a:r>
              <a:rPr lang="en-US" dirty="0"/>
              <a:t> de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56CDB-654C-B991-B48C-C531EB9BF8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Sistemul</a:t>
            </a:r>
            <a:r>
              <a:rPr lang="en-US" dirty="0"/>
              <a:t> IA </a:t>
            </a:r>
            <a:r>
              <a:rPr lang="en-US" dirty="0" err="1"/>
              <a:t>preia</a:t>
            </a:r>
            <a:r>
              <a:rPr lang="en-US" dirty="0"/>
              <a:t> </a:t>
            </a:r>
            <a:r>
              <a:rPr lang="en-US" dirty="0" err="1"/>
              <a:t>imaginile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i="1" dirty="0" err="1">
                <a:latin typeface="Comic Sans MS" panose="030F0702030302020204" pitchFamily="66" charset="0"/>
              </a:rPr>
              <a:t>analizează</a:t>
            </a:r>
            <a:r>
              <a:rPr lang="en-US" i="1" dirty="0">
                <a:latin typeface="Comic Sans MS" panose="030F0702030302020204" pitchFamily="66" charset="0"/>
              </a:rPr>
              <a:t> </a:t>
            </a:r>
            <a:r>
              <a:rPr lang="en-US" i="1" dirty="0" err="1">
                <a:latin typeface="Comic Sans MS" panose="030F0702030302020204" pitchFamily="66" charset="0"/>
              </a:rPr>
              <a:t>cadrul</a:t>
            </a:r>
            <a:r>
              <a:rPr lang="en-US" i="1" dirty="0">
                <a:latin typeface="Comic Sans MS" panose="030F0702030302020204" pitchFamily="66" charset="0"/>
              </a:rPr>
              <a:t>, </a:t>
            </a:r>
            <a:r>
              <a:rPr lang="en-US" i="1" dirty="0" err="1">
                <a:latin typeface="Comic Sans MS" panose="030F0702030302020204" pitchFamily="66" charset="0"/>
              </a:rPr>
              <a:t>marchează</a:t>
            </a:r>
            <a:r>
              <a:rPr lang="en-US" i="1" dirty="0">
                <a:latin typeface="Comic Sans MS" panose="030F0702030302020204" pitchFamily="66" charset="0"/>
              </a:rPr>
              <a:t> </a:t>
            </a:r>
            <a:r>
              <a:rPr lang="en-US" i="1" dirty="0" err="1">
                <a:latin typeface="Comic Sans MS" panose="030F0702030302020204" pitchFamily="66" charset="0"/>
              </a:rPr>
              <a:t>șobolanul</a:t>
            </a:r>
            <a:r>
              <a:rPr lang="en-US" i="1" dirty="0">
                <a:latin typeface="Comic Sans MS" panose="030F0702030302020204" pitchFamily="66" charset="0"/>
              </a:rPr>
              <a:t> cu un </a:t>
            </a:r>
            <a:r>
              <a:rPr lang="en-US" i="1" dirty="0" err="1">
                <a:latin typeface="Comic Sans MS" panose="030F0702030302020204" pitchFamily="66" charset="0"/>
              </a:rPr>
              <a:t>dreptunghi</a:t>
            </a:r>
            <a:r>
              <a:rPr lang="en-US" i="1" dirty="0">
                <a:latin typeface="Comic Sans MS" panose="030F0702030302020204" pitchFamily="66" charset="0"/>
              </a:rPr>
              <a:t> </a:t>
            </a:r>
            <a:r>
              <a:rPr lang="en-US" i="1" dirty="0" err="1">
                <a:latin typeface="Comic Sans MS" panose="030F0702030302020204" pitchFamily="66" charset="0"/>
              </a:rPr>
              <a:t>roșu</a:t>
            </a:r>
            <a:r>
              <a:rPr lang="en-US" i="1" dirty="0">
                <a:latin typeface="Comic Sans MS" panose="030F0702030302020204" pitchFamily="66" charset="0"/>
              </a:rPr>
              <a:t> (bounding box) </a:t>
            </a:r>
            <a:r>
              <a:rPr lang="en-US" i="1" dirty="0" err="1">
                <a:latin typeface="Comic Sans MS" panose="030F0702030302020204" pitchFamily="66" charset="0"/>
              </a:rPr>
              <a:t>și</a:t>
            </a:r>
            <a:r>
              <a:rPr lang="en-US" i="1" dirty="0">
                <a:latin typeface="Comic Sans MS" panose="030F0702030302020204" pitchFamily="66" charset="0"/>
              </a:rPr>
              <a:t> </a:t>
            </a:r>
            <a:r>
              <a:rPr lang="en-US" i="1" dirty="0" err="1">
                <a:latin typeface="Cooper Black" panose="0208090404030B020404" pitchFamily="18" charset="0"/>
              </a:rPr>
              <a:t>alarmează</a:t>
            </a:r>
            <a:r>
              <a:rPr lang="en-US" i="1" dirty="0">
                <a:latin typeface="Comic Sans MS" panose="030F0702030302020204" pitchFamily="66" charset="0"/>
              </a:rPr>
              <a:t> </a:t>
            </a:r>
            <a:r>
              <a:rPr lang="en-US" i="1" dirty="0" err="1">
                <a:latin typeface="Comic Sans MS" panose="030F0702030302020204" pitchFamily="66" charset="0"/>
              </a:rPr>
              <a:t>utilizatorul</a:t>
            </a:r>
            <a:r>
              <a:rPr lang="en-US" i="1" dirty="0">
                <a:latin typeface="Comic Sans MS" panose="030F0702030302020204" pitchFamily="66" charset="0"/>
              </a:rPr>
              <a:t> cu o </a:t>
            </a:r>
            <a:r>
              <a:rPr lang="en-US" i="1" dirty="0" err="1">
                <a:latin typeface="Cooper Black" panose="0208090404030B020404" pitchFamily="18" charset="0"/>
              </a:rPr>
              <a:t>alarmă</a:t>
            </a:r>
            <a:r>
              <a:rPr lang="en-US" i="1" dirty="0">
                <a:latin typeface="Comic Sans MS" panose="030F0702030302020204" pitchFamily="66" charset="0"/>
              </a:rPr>
              <a:t> </a:t>
            </a:r>
            <a:r>
              <a:rPr lang="en-US" i="1" dirty="0" err="1">
                <a:latin typeface="Comic Sans MS" panose="030F0702030302020204" pitchFamily="66" charset="0"/>
              </a:rPr>
              <a:t>imediat</a:t>
            </a:r>
            <a:r>
              <a:rPr lang="en-US" i="1" dirty="0">
                <a:latin typeface="Comic Sans MS" panose="030F0702030302020204" pitchFamily="66" charset="0"/>
              </a:rPr>
              <a:t> </a:t>
            </a:r>
            <a:r>
              <a:rPr lang="en-US" i="1" dirty="0" err="1">
                <a:latin typeface="Comic Sans MS" panose="030F0702030302020204" pitchFamily="66" charset="0"/>
              </a:rPr>
              <a:t>ce</a:t>
            </a:r>
            <a:r>
              <a:rPr lang="en-US" i="1" dirty="0">
                <a:latin typeface="Comic Sans MS" panose="030F0702030302020204" pitchFamily="66" charset="0"/>
              </a:rPr>
              <a:t> </a:t>
            </a:r>
            <a:r>
              <a:rPr lang="en-US" i="1" dirty="0" err="1">
                <a:latin typeface="Comic Sans MS" panose="030F0702030302020204" pitchFamily="66" charset="0"/>
              </a:rPr>
              <a:t>sobolanul</a:t>
            </a:r>
            <a:r>
              <a:rPr lang="en-US" i="1" dirty="0">
                <a:latin typeface="Comic Sans MS" panose="030F0702030302020204" pitchFamily="66" charset="0"/>
              </a:rPr>
              <a:t> </a:t>
            </a:r>
            <a:r>
              <a:rPr lang="en-US" i="1" dirty="0" err="1">
                <a:latin typeface="Comic Sans MS" panose="030F0702030302020204" pitchFamily="66" charset="0"/>
              </a:rPr>
              <a:t>este</a:t>
            </a:r>
            <a:r>
              <a:rPr lang="en-US" i="1" dirty="0">
                <a:latin typeface="Comic Sans MS" panose="030F0702030302020204" pitchFamily="66" charset="0"/>
              </a:rPr>
              <a:t> </a:t>
            </a:r>
            <a:r>
              <a:rPr lang="en-US" i="1" dirty="0" err="1">
                <a:latin typeface="Comic Sans MS" panose="030F0702030302020204" pitchFamily="66" charset="0"/>
              </a:rPr>
              <a:t>detectat</a:t>
            </a:r>
            <a:r>
              <a:rPr lang="en-US" i="1" dirty="0">
                <a:latin typeface="Comic Sans MS" panose="030F0702030302020204" pitchFamily="66" charset="0"/>
              </a:rPr>
              <a:t>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FC205F-BC4A-7DDD-A4EC-9D1F6CFEF2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817043"/>
            <a:ext cx="5879592" cy="5879592"/>
          </a:xfrm>
          <a:effectLst>
            <a:softEdge rad="431800"/>
          </a:effectLst>
        </p:spPr>
      </p:pic>
    </p:spTree>
    <p:extLst>
      <p:ext uri="{BB962C8B-B14F-4D97-AF65-F5344CB8AC3E}">
        <p14:creationId xmlns:p14="http://schemas.microsoft.com/office/powerpoint/2010/main" val="4207876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1953ABC-DCC5-2299-815C-349D8D5722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312" y="649414"/>
            <a:ext cx="4664480" cy="6208585"/>
          </a:xfrm>
          <a:effectLst>
            <a:glow rad="127000">
              <a:srgbClr val="FFFF00">
                <a:alpha val="0"/>
              </a:srgbClr>
            </a:glow>
            <a:outerShdw blurRad="190500" dist="292100" dir="3300000" algn="ctr" rotWithShape="0">
              <a:srgbClr val="000000">
                <a:alpha val="88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346C4-429C-C9D6-50AD-52B89793D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Date de </a:t>
            </a:r>
            <a:r>
              <a:rPr lang="en-US" b="1" dirty="0" err="1"/>
              <a:t>intrare</a:t>
            </a:r>
            <a:r>
              <a:rPr lang="en-US" b="1" dirty="0"/>
              <a:t>/</a:t>
            </a:r>
            <a:r>
              <a:rPr lang="en-US" b="1" dirty="0" err="1"/>
              <a:t>ieșire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46532-2DDA-D24F-7700-6BB7F666EA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Input:</a:t>
            </a:r>
          </a:p>
          <a:p>
            <a:pPr marL="0" indent="0">
              <a:buNone/>
            </a:pPr>
            <a:r>
              <a:rPr lang="en-US" sz="1600" dirty="0"/>
              <a:t>- imagine</a:t>
            </a:r>
          </a:p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Output:</a:t>
            </a:r>
          </a:p>
          <a:p>
            <a:pPr>
              <a:buFontTx/>
              <a:buChar char="-"/>
            </a:pPr>
            <a:r>
              <a:rPr lang="en-US" sz="1600" dirty="0"/>
              <a:t>VERDICTUL 🤖🐀 (</a:t>
            </a:r>
            <a:r>
              <a:rPr lang="en-US" sz="1600" dirty="0" err="1"/>
              <a:t>daca</a:t>
            </a:r>
            <a:r>
              <a:rPr lang="en-US" sz="1600" dirty="0"/>
              <a:t> </a:t>
            </a:r>
            <a:r>
              <a:rPr lang="en-US" sz="1600" dirty="0" err="1"/>
              <a:t>este</a:t>
            </a:r>
            <a:r>
              <a:rPr lang="en-US" sz="1600" dirty="0"/>
              <a:t> un </a:t>
            </a:r>
            <a:r>
              <a:rPr lang="en-US" sz="1600" dirty="0" err="1"/>
              <a:t>sobolan</a:t>
            </a:r>
            <a:r>
              <a:rPr lang="en-US" sz="1600" dirty="0"/>
              <a:t> in imagine)</a:t>
            </a:r>
          </a:p>
          <a:p>
            <a:pPr>
              <a:buFontTx/>
              <a:buChar char="-"/>
            </a:pPr>
            <a:r>
              <a:rPr lang="en-US" sz="1600" dirty="0"/>
              <a:t>LOCATIA 🔎🔍 (</a:t>
            </a:r>
            <a:r>
              <a:rPr lang="en-US" sz="1600" dirty="0" err="1"/>
              <a:t>arata</a:t>
            </a:r>
            <a:r>
              <a:rPr lang="en-US" sz="1600" dirty="0"/>
              <a:t> </a:t>
            </a:r>
            <a:r>
              <a:rPr lang="en-US" sz="1600" dirty="0" err="1"/>
              <a:t>unde</a:t>
            </a:r>
            <a:r>
              <a:rPr lang="en-US" sz="1600" dirty="0"/>
              <a:t> a </a:t>
            </a:r>
            <a:r>
              <a:rPr lang="en-US" sz="1600" dirty="0" err="1"/>
              <a:t>fost</a:t>
            </a:r>
            <a:r>
              <a:rPr lang="en-US" sz="1600" dirty="0"/>
              <a:t> </a:t>
            </a:r>
            <a:r>
              <a:rPr lang="en-US" sz="1600" dirty="0" err="1"/>
              <a:t>gasit</a:t>
            </a:r>
            <a:r>
              <a:rPr lang="en-US" sz="1600" dirty="0"/>
              <a:t> </a:t>
            </a:r>
            <a:r>
              <a:rPr lang="en-US" sz="1600" dirty="0" err="1"/>
              <a:t>sobo</a:t>
            </a:r>
            <a:r>
              <a:rPr lang="en-US" sz="1600" dirty="0"/>
              <a:t>)</a:t>
            </a:r>
          </a:p>
          <a:p>
            <a:pPr>
              <a:buFontTx/>
              <a:buChar char="-"/>
            </a:pPr>
            <a:r>
              <a:rPr lang="en-US" sz="1600" dirty="0"/>
              <a:t>ALARMA ⏰👂 (</a:t>
            </a:r>
            <a:r>
              <a:rPr lang="en-US" sz="1600" dirty="0" err="1"/>
              <a:t>utilizator</a:t>
            </a:r>
            <a:r>
              <a:rPr lang="en-US" sz="1600" dirty="0"/>
              <a:t> </a:t>
            </a:r>
            <a:r>
              <a:rPr lang="en-US" sz="1600" dirty="0" err="1"/>
              <a:t>va</a:t>
            </a:r>
            <a:r>
              <a:rPr lang="en-US" sz="1600" dirty="0"/>
              <a:t> fi </a:t>
            </a:r>
            <a:r>
              <a:rPr lang="en-US" sz="1600" dirty="0" err="1"/>
              <a:t>alertat</a:t>
            </a:r>
            <a:r>
              <a:rPr lang="en-US" sz="1600" dirty="0"/>
              <a:t> </a:t>
            </a:r>
            <a:r>
              <a:rPr lang="en-US" sz="1600" dirty="0" err="1"/>
              <a:t>iminent</a:t>
            </a:r>
            <a:r>
              <a:rPr lang="en-US" sz="1600" dirty="0"/>
              <a:t>)</a:t>
            </a:r>
          </a:p>
          <a:p>
            <a:pPr>
              <a:buFontTx/>
              <a:buChar char="-"/>
            </a:pPr>
            <a:r>
              <a:rPr lang="en-US" sz="1600" dirty="0"/>
              <a:t>LOCATIA ⭕📦 (</a:t>
            </a:r>
            <a:r>
              <a:rPr lang="en-US" sz="1600" dirty="0" err="1"/>
              <a:t>pentru</a:t>
            </a:r>
            <a:r>
              <a:rPr lang="en-US" sz="1600" dirty="0"/>
              <a:t> </a:t>
            </a:r>
            <a:r>
              <a:rPr lang="en-US" sz="1600" dirty="0" err="1"/>
              <a:t>evidentierea</a:t>
            </a:r>
            <a:r>
              <a:rPr lang="en-US" sz="1600" dirty="0"/>
              <a:t> </a:t>
            </a:r>
            <a:r>
              <a:rPr lang="en-US" sz="1600" dirty="0" err="1"/>
              <a:t>rozatoarei</a:t>
            </a:r>
            <a:r>
              <a:rPr lang="en-US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2484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75000"/>
              </a:schemeClr>
            </a:gs>
            <a:gs pos="0">
              <a:schemeClr val="bg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8156-0A7D-52E2-975C-E997CD75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978408"/>
            <a:ext cx="5166359" cy="2114416"/>
          </a:xfrm>
        </p:spPr>
        <p:txBody>
          <a:bodyPr>
            <a:normAutofit/>
          </a:bodyPr>
          <a:lstStyle/>
          <a:p>
            <a:r>
              <a:rPr lang="en-US" dirty="0" err="1"/>
              <a:t>Componentă</a:t>
            </a:r>
            <a:r>
              <a:rPr lang="en-US" dirty="0"/>
              <a:t> de </a:t>
            </a:r>
            <a:r>
              <a:rPr lang="en-US" dirty="0" err="1"/>
              <a:t>simulare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achizitie</a:t>
            </a:r>
            <a:r>
              <a:rPr lang="en-US" dirty="0"/>
              <a:t> </a:t>
            </a:r>
            <a:r>
              <a:rPr lang="en-US" dirty="0" err="1"/>
              <a:t>reală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AFF84-06AB-D08B-E1BE-7747FCEB0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3524984"/>
            <a:ext cx="5166360" cy="2421216"/>
          </a:xfrm>
        </p:spPr>
        <p:txBody>
          <a:bodyPr/>
          <a:lstStyle/>
          <a:p>
            <a:r>
              <a:rPr lang="en-US" dirty="0" err="1">
                <a:latin typeface="Rockwell Extra Bold" panose="02060903040505020403" pitchFamily="18" charset="0"/>
              </a:rPr>
              <a:t>Sistemul</a:t>
            </a:r>
            <a:r>
              <a:rPr lang="en-US" dirty="0">
                <a:latin typeface="Rockwell Extra Bold" panose="02060903040505020403" pitchFamily="18" charset="0"/>
              </a:rPr>
              <a:t>​‍​‌‍​‍‌ </a:t>
            </a:r>
            <a:r>
              <a:rPr lang="en-US" dirty="0" err="1">
                <a:latin typeface="Rockwell Extra Bold" panose="02060903040505020403" pitchFamily="18" charset="0"/>
              </a:rPr>
              <a:t>dispune</a:t>
            </a:r>
            <a:r>
              <a:rPr lang="en-US" dirty="0">
                <a:latin typeface="Rockwell Extra Bold" panose="02060903040505020403" pitchFamily="18" charset="0"/>
              </a:rPr>
              <a:t> de o </a:t>
            </a:r>
            <a:r>
              <a:rPr lang="en-US" dirty="0" err="1">
                <a:latin typeface="Rockwell Extra Bold" panose="02060903040505020403" pitchFamily="18" charset="0"/>
              </a:rPr>
              <a:t>componentă</a:t>
            </a:r>
            <a:r>
              <a:rPr lang="en-US" dirty="0">
                <a:latin typeface="Rockwell Extra Bold" panose="02060903040505020403" pitchFamily="18" charset="0"/>
              </a:rPr>
              <a:t> de </a:t>
            </a:r>
            <a:r>
              <a:rPr lang="en-US" dirty="0" err="1">
                <a:latin typeface="Rockwell Extra Bold" panose="02060903040505020403" pitchFamily="18" charset="0"/>
              </a:rPr>
              <a:t>simulare</a:t>
            </a:r>
            <a:r>
              <a:rPr lang="en-US" dirty="0">
                <a:latin typeface="Rockwell Extra Bold" panose="02060903040505020403" pitchFamily="18" charset="0"/>
              </a:rPr>
              <a:t> </a:t>
            </a:r>
            <a:r>
              <a:rPr lang="en-US" dirty="0" err="1">
                <a:latin typeface="Rockwell Extra Bold" panose="02060903040505020403" pitchFamily="18" charset="0"/>
              </a:rPr>
              <a:t>pentru</a:t>
            </a:r>
            <a:r>
              <a:rPr lang="en-US" dirty="0">
                <a:latin typeface="Rockwell Extra Bold" panose="02060903040505020403" pitchFamily="18" charset="0"/>
              </a:rPr>
              <a:t> </a:t>
            </a:r>
            <a:r>
              <a:rPr lang="en-US" dirty="0" err="1">
                <a:latin typeface="Rockwell Extra Bold" panose="02060903040505020403" pitchFamily="18" charset="0"/>
              </a:rPr>
              <a:t>achiziția</a:t>
            </a:r>
            <a:r>
              <a:rPr lang="en-US" dirty="0">
                <a:latin typeface="Rockwell Extra Bold" panose="02060903040505020403" pitchFamily="18" charset="0"/>
              </a:rPr>
              <a:t> </a:t>
            </a:r>
            <a:r>
              <a:rPr lang="en-US" dirty="0" err="1">
                <a:latin typeface="Rockwell Extra Bold" panose="02060903040505020403" pitchFamily="18" charset="0"/>
              </a:rPr>
              <a:t>imaginilor</a:t>
            </a:r>
            <a:r>
              <a:rPr lang="en-US" dirty="0">
                <a:latin typeface="Rockwell Extra Bold" panose="02060903040505020403" pitchFamily="18" charset="0"/>
              </a:rPr>
              <a:t>, </a:t>
            </a:r>
            <a:r>
              <a:rPr lang="en-US" dirty="0" err="1">
                <a:latin typeface="Rockwell Extra Bold" panose="02060903040505020403" pitchFamily="18" charset="0"/>
              </a:rPr>
              <a:t>folosind</a:t>
            </a:r>
            <a:r>
              <a:rPr lang="en-US" dirty="0">
                <a:latin typeface="Rockwell Extra Bold" panose="02060903040505020403" pitchFamily="18" charset="0"/>
              </a:rPr>
              <a:t> un set de </a:t>
            </a:r>
            <a:r>
              <a:rPr lang="en-US" dirty="0" err="1">
                <a:latin typeface="Rockwell Extra Bold" panose="02060903040505020403" pitchFamily="18" charset="0"/>
              </a:rPr>
              <a:t>imagini</a:t>
            </a:r>
            <a:r>
              <a:rPr lang="en-US" dirty="0">
                <a:latin typeface="Rockwell Extra Bold" panose="02060903040505020403" pitchFamily="18" charset="0"/>
              </a:rPr>
              <a:t> </a:t>
            </a:r>
            <a:r>
              <a:rPr lang="en-US" dirty="0" err="1">
                <a:latin typeface="Rockwell Extra Bold" panose="02060903040505020403" pitchFamily="18" charset="0"/>
              </a:rPr>
              <a:t>preînregistrate</a:t>
            </a:r>
            <a:r>
              <a:rPr lang="en-US" dirty="0">
                <a:latin typeface="Rockwell Extra Bold" panose="02060903040505020403" pitchFamily="18" charset="0"/>
              </a:rPr>
              <a:t>. Ulterior, </a:t>
            </a:r>
            <a:r>
              <a:rPr lang="en-US" dirty="0" err="1">
                <a:latin typeface="Rockwell Extra Bold" panose="02060903040505020403" pitchFamily="18" charset="0"/>
              </a:rPr>
              <a:t>sistemul</a:t>
            </a:r>
            <a:r>
              <a:rPr lang="en-US" dirty="0">
                <a:latin typeface="Rockwell Extra Bold" panose="02060903040505020403" pitchFamily="18" charset="0"/>
              </a:rPr>
              <a:t> </a:t>
            </a:r>
            <a:r>
              <a:rPr lang="en-US" dirty="0" err="1">
                <a:latin typeface="Rockwell Extra Bold" panose="02060903040505020403" pitchFamily="18" charset="0"/>
              </a:rPr>
              <a:t>ar</a:t>
            </a:r>
            <a:r>
              <a:rPr lang="en-US" dirty="0">
                <a:latin typeface="Rockwell Extra Bold" panose="02060903040505020403" pitchFamily="18" charset="0"/>
              </a:rPr>
              <a:t> </a:t>
            </a:r>
            <a:r>
              <a:rPr lang="en-US" dirty="0" err="1">
                <a:latin typeface="Rockwell Extra Bold" panose="02060903040505020403" pitchFamily="18" charset="0"/>
              </a:rPr>
              <a:t>putea</a:t>
            </a:r>
            <a:r>
              <a:rPr lang="en-US" dirty="0">
                <a:latin typeface="Rockwell Extra Bold" panose="02060903040505020403" pitchFamily="18" charset="0"/>
              </a:rPr>
              <a:t> fi </a:t>
            </a:r>
            <a:r>
              <a:rPr lang="en-US" dirty="0" err="1">
                <a:latin typeface="Rockwell Extra Bold" panose="02060903040505020403" pitchFamily="18" charset="0"/>
              </a:rPr>
              <a:t>conectat</a:t>
            </a:r>
            <a:r>
              <a:rPr lang="en-US" dirty="0">
                <a:latin typeface="Rockwell Extra Bold" panose="02060903040505020403" pitchFamily="18" charset="0"/>
              </a:rPr>
              <a:t> la o camera video </a:t>
            </a:r>
            <a:r>
              <a:rPr lang="en-US" dirty="0" err="1">
                <a:latin typeface="Rockwell Extra Bold" panose="02060903040505020403" pitchFamily="18" charset="0"/>
              </a:rPr>
              <a:t>pentru</a:t>
            </a:r>
            <a:r>
              <a:rPr lang="en-US" dirty="0">
                <a:latin typeface="Rockwell Extra Bold" panose="02060903040505020403" pitchFamily="18" charset="0"/>
              </a:rPr>
              <a:t> </a:t>
            </a:r>
            <a:r>
              <a:rPr lang="en-US" dirty="0" err="1">
                <a:latin typeface="Rockwell Extra Bold" panose="02060903040505020403" pitchFamily="18" charset="0"/>
              </a:rPr>
              <a:t>analizare</a:t>
            </a:r>
            <a:r>
              <a:rPr lang="en-US" dirty="0">
                <a:latin typeface="Rockwell Extra Bold" panose="02060903040505020403" pitchFamily="18" charset="0"/>
              </a:rPr>
              <a:t> ​‍​‌‍​‍‌</a:t>
            </a:r>
            <a:r>
              <a:rPr lang="en-US" dirty="0" err="1">
                <a:latin typeface="Rockwell Extra Bold" panose="02060903040505020403" pitchFamily="18" charset="0"/>
              </a:rPr>
              <a:t>în</a:t>
            </a:r>
            <a:r>
              <a:rPr lang="en-US" dirty="0">
                <a:latin typeface="Rockwell Extra Bold" panose="02060903040505020403" pitchFamily="18" charset="0"/>
              </a:rPr>
              <a:t> </a:t>
            </a:r>
            <a:r>
              <a:rPr lang="en-US" dirty="0" err="1">
                <a:latin typeface="Rockwell Extra Bold" panose="02060903040505020403" pitchFamily="18" charset="0"/>
              </a:rPr>
              <a:t>timp</a:t>
            </a:r>
            <a:r>
              <a:rPr lang="en-US" dirty="0">
                <a:latin typeface="Rockwell Extra Bold" panose="02060903040505020403" pitchFamily="18" charset="0"/>
              </a:rPr>
              <a:t> real.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0CCDC7-BB84-0A36-B4DE-EC7B3D7A38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056" y="762000"/>
            <a:ext cx="6267736" cy="6267736"/>
          </a:xfrm>
        </p:spPr>
      </p:pic>
    </p:spTree>
    <p:extLst>
      <p:ext uri="{BB962C8B-B14F-4D97-AF65-F5344CB8AC3E}">
        <p14:creationId xmlns:p14="http://schemas.microsoft.com/office/powerpoint/2010/main" val="66845896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162</TotalTime>
  <Words>691</Words>
  <Application>Microsoft Office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ADLaM Display</vt:lpstr>
      <vt:lpstr>Algerian</vt:lpstr>
      <vt:lpstr>Arial</vt:lpstr>
      <vt:lpstr>Bierstadt</vt:lpstr>
      <vt:lpstr>Brush Script MT</vt:lpstr>
      <vt:lpstr>Comic Sans MS</vt:lpstr>
      <vt:lpstr>Cooper Black</vt:lpstr>
      <vt:lpstr>Impact</vt:lpstr>
      <vt:lpstr>Rastanty Cortez</vt:lpstr>
      <vt:lpstr>Rockwell Extra Bold</vt:lpstr>
      <vt:lpstr>GestaltVTI</vt:lpstr>
      <vt:lpstr>Sistem de Inteligenta Artificiala pentru recunoasterea sobolanilor</vt:lpstr>
      <vt:lpstr>Ideea generala</vt:lpstr>
      <vt:lpstr>Domeniul Industrial de Interes</vt:lpstr>
      <vt:lpstr>Stadiul actual</vt:lpstr>
      <vt:lpstr>Beneficii masurabile</vt:lpstr>
      <vt:lpstr>Surse relevante</vt:lpstr>
      <vt:lpstr>Rolul SIA</vt:lpstr>
      <vt:lpstr>Arhitectura SIA</vt:lpstr>
      <vt:lpstr>Domenii de utilizare.</vt:lpstr>
      <vt:lpstr>Fluxul de date</vt:lpstr>
      <vt:lpstr>Date de intrare/ieșire</vt:lpstr>
      <vt:lpstr>Componentă de simulare sau achizitie reală?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Filip-Andrei BLAGA (140890)</dc:creator>
  <cp:lastModifiedBy>student.FIIR</cp:lastModifiedBy>
  <cp:revision>66</cp:revision>
  <dcterms:created xsi:type="dcterms:W3CDTF">2025-11-06T14:33:29Z</dcterms:created>
  <dcterms:modified xsi:type="dcterms:W3CDTF">2025-11-13T15:33:42Z</dcterms:modified>
</cp:coreProperties>
</file>